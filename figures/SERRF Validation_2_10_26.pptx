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Mono" panose="00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29C7FB-2BB2-4736-BDCD-A3C220846929}">
  <a:tblStyle styleId="{2229C7FB-2BB2-4736-BDCD-A3C2208469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1cd2477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1cd2477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1cd2477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1cd2477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61cd247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61cd247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40b51815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40b51815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417b1712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417b1712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40b51815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40b51815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417b1712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417b1712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61cd2477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61cd2477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40b51815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40b51815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61cd2477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61cd24777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61cd2477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61cd2477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d238d19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6d238d19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6d238d19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6d238d19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6d238d19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6d238d19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6d238d19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6d238d19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CHANGELOG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6107969/#bib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SERRF Validation (Draft)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Made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Changes were made to the python version of SERRF to correct errors in the implementation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All changes are thoroughly explained in </a:t>
            </a:r>
            <a:r>
              <a:rPr lang="en" u="sng" dirty="0">
                <a:solidFill>
                  <a:schemeClr val="hlink"/>
                </a:solidFill>
                <a:hlinkClick r:id="rId3" action="ppaction://hlinkfile"/>
              </a:rPr>
              <a:t>CHANGELOG.md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Summary of changes made: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Modified order of operations for normalization method (SERRF.fit_predict)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Fixed error in QC normalization procedure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Inverted Logic for a scaling condition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Adjusted feature selection for model builiding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Created option to utilize R’s ranger package inside Python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Adjusted sklearn’s random forest regressor hyperparameters to reflect R’s ranger package defaults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Modified location and scale of distribution for sampling to fix negative values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SERRF Example Dataset Figures</a:t>
            </a:r>
            <a:endParaRPr/>
          </a:p>
        </p:txBody>
      </p:sp>
      <p:pic>
        <p:nvPicPr>
          <p:cNvPr id="67" name="Google Shape;67;p15" title="Bar Plot and PCA 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626" y="880900"/>
            <a:ext cx="2696674" cy="40460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56600" y="1119125"/>
            <a:ext cx="4894500" cy="3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QCRSD - RSD of QC samples (125) prior to correction. Performs outlier removal prior to calculating RSD using Interquartile Range (IQR) * 1.5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Validate sample RSD - selected a random subset of 25 samples, computed the RSD after removing outliers using IQR * 1.5, computed the average for each metabolite (268) across validate sets (5) and then reported the median value as a summary statistic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Cross-Validation Description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validation is a method to ensure that your ML model generalizes well.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validation is for model evaluation not for model building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SERRF reports a 5-fold cross validation scheme where a random subset of qc samples (training data) and biological samples (testing data) are selected and used as the input for SERRF. This builds 5 models (1 for each subset) and allows for assessment of how well the model generalizes when seeing different combinations of the data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our purpose of evaluating an implementation we can just look at the SERRF model built using all of the data (i.e SERRF’s final output)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could be a good idea to implement but would be very time-consuming for NPH datasets.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268375" y="228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Figures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0" y="967525"/>
            <a:ext cx="3889200" cy="3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For this comparison, I compared the final output of SERRF where the model sees:</a:t>
            </a:r>
            <a:endParaRPr sz="1600">
              <a:solidFill>
                <a:schemeClr val="dk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>
                <a:solidFill>
                  <a:schemeClr val="dk2"/>
                </a:solidFill>
              </a:rPr>
              <a:t>All QC samples (125) and biological samples without “validate”/holdout set (1287)</a:t>
            </a:r>
            <a:endParaRPr sz="1600">
              <a:solidFill>
                <a:schemeClr val="dk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>
                <a:solidFill>
                  <a:schemeClr val="dk2"/>
                </a:solidFill>
              </a:rPr>
              <a:t>All QC samples (125) and only “validate”/holdout set (12)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This was conducted to reflect exactly what we are seeing in the PCA plot and the final table output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81" name="Google Shape;81;p17" title="SERRFRSDValidationAllSe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600" y="953550"/>
            <a:ext cx="4950000" cy="24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130150" y="100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pic>
        <p:nvPicPr>
          <p:cNvPr id="87" name="Google Shape;87;p18" title="SerrfValidationP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5375"/>
            <a:ext cx="8839200" cy="3754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3675" y="83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Analysis</a:t>
            </a:r>
            <a:endParaRPr/>
          </a:p>
        </p:txBody>
      </p:sp>
      <p:pic>
        <p:nvPicPr>
          <p:cNvPr id="93" name="Google Shape;93;p19" title="SERRFValidationCorrelation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2" y="778800"/>
            <a:ext cx="4131975" cy="3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500" y="778800"/>
            <a:ext cx="4451051" cy="31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-66725" y="-1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Concordance Correlation Coefficient</a:t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4484750" y="355550"/>
            <a:ext cx="4277100" cy="3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Concordance Correlation Coefficient (CCC) is a metric that can be used alongside Pearson correlation to assess agreement between two continuous variables. 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While Pearson correlation measures the strength of the linear relationship, it does not account for differences in scale or systematic bias.Two methods can have a high Pearson correlation even if their values differ substantially in magnitude.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CCC incorporates both precision (correlation) and accuracy (agreement in scale and location).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CCC is influenced by the range of values. A narrow range of measurements will typically yield a lower CCC even if the methods agree well, while a wider range can inflate the CCC.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950" y="355550"/>
            <a:ext cx="2953625" cy="22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475" y="2744254"/>
            <a:ext cx="3230575" cy="2399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62625" y="120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Concordance Correlation Coefficient</a:t>
            </a:r>
            <a:endParaRPr/>
          </a:p>
        </p:txBody>
      </p:sp>
      <p:pic>
        <p:nvPicPr>
          <p:cNvPr id="108" name="Google Shape;108;p21" title="Screenshot 2026-02-06 1132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642" y="1028552"/>
            <a:ext cx="5961657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67050" y="83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Error</a:t>
            </a:r>
            <a:endParaRPr/>
          </a:p>
        </p:txBody>
      </p:sp>
      <p:pic>
        <p:nvPicPr>
          <p:cNvPr id="114" name="Google Shape;114;p22" title="Screenshot 2026-02-06 1110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19" y="2636550"/>
            <a:ext cx="4869275" cy="14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4224900" y="675175"/>
            <a:ext cx="4872900" cy="23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Percent error quantifies the difference between your experimental and expected value. 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Since the goal is replication of R results, R output is treated as the actual value and Python as measured value.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500" y="556375"/>
            <a:ext cx="2697250" cy="21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975" y="2823875"/>
            <a:ext cx="2616301" cy="20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Evaluation 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-56450" y="572700"/>
            <a:ext cx="9706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Identify Outliers in each Metric’s distribution using known thresholds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For each outlier plot R vs Python scatter plot and R vs Python intensity distribution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Report summary statistics: Mean, Standard Deviation </a:t>
            </a: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u="sng" dirty="0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User's guide to correlation coefficients</a:t>
            </a:r>
            <a:r>
              <a:rPr lang="en" dirty="0"/>
              <a:t> (&lt;0.95 for correlation coefficients) </a:t>
            </a: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Set an arbitrary cutoff of 5% for percent error. </a:t>
            </a:r>
            <a:endParaRPr dirty="0"/>
          </a:p>
        </p:txBody>
      </p:sp>
      <p:pic>
        <p:nvPicPr>
          <p:cNvPr id="124" name="Google Shape;124;p23" title="Screenshot 2026-02-06 1140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0" y="2390575"/>
            <a:ext cx="3420151" cy="269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Screenshot 2026-02-06 1141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4106" y="2390575"/>
            <a:ext cx="4792944" cy="269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24"/>
          <p:cNvGraphicFramePr/>
          <p:nvPr>
            <p:extLst>
              <p:ext uri="{D42A27DB-BD31-4B8C-83A1-F6EECF244321}">
                <p14:modId xmlns:p14="http://schemas.microsoft.com/office/powerpoint/2010/main" val="584165168"/>
              </p:ext>
            </p:extLst>
          </p:nvPr>
        </p:nvGraphicFramePr>
        <p:xfrm>
          <a:off x="189300" y="304600"/>
          <a:ext cx="8765400" cy="1280130"/>
        </p:xfrm>
        <a:graphic>
          <a:graphicData uri="http://schemas.openxmlformats.org/drawingml/2006/table">
            <a:tbl>
              <a:tblPr>
                <a:noFill/>
                <a:tableStyleId>{2229C7FB-2BB2-4736-BDCD-A3C220846929}</a:tableStyleId>
              </a:tblPr>
              <a:tblGrid>
                <a:gridCol w="219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Percent Error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(outlier if &gt;5) 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Concordance Correlation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(outlier if &lt;0.95)  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Pearson Correlation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(outlier if &lt;0.95)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Across Quality Control Samples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MET205,MET215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Across Biological Samples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MET190,MET215</a:t>
                      </a:r>
                      <a:endParaRPr sz="11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MET190,MET205,MET206,MET215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MET190,MET205,MET206,MET215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" name="Google Shape;131;p24"/>
          <p:cNvSpPr txBox="1"/>
          <p:nvPr/>
        </p:nvSpPr>
        <p:spPr>
          <a:xfrm>
            <a:off x="305550" y="1773685"/>
            <a:ext cx="8532900" cy="24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4 main features that are somewhat out of agreement between implementations.   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Despite having utilized the same model with the same RNG “seed” there still are some differences 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Some operations require sampling from a distribution. This was conducted strictly in python so this could be a potential explanation for variability.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Concordance Correlation Coefficient can be adversely affected by t</a:t>
            </a:r>
            <a:r>
              <a:rPr lang="en-US" sz="1800" dirty="0">
                <a:solidFill>
                  <a:schemeClr val="dk2"/>
                </a:solidFill>
              </a:rPr>
              <a:t>h</a:t>
            </a:r>
            <a:r>
              <a:rPr lang="en" sz="1800" dirty="0">
                <a:solidFill>
                  <a:schemeClr val="dk2"/>
                </a:solidFill>
              </a:rPr>
              <a:t>e variance/spread of a feature.  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Random forest predictions depend on comparisons like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 &lt;= threshold</a:t>
            </a:r>
            <a:r>
              <a:rPr lang="en" sz="1100" b="1" dirty="0">
                <a:solidFill>
                  <a:schemeClr val="dk1"/>
                </a:solidFill>
              </a:rPr>
              <a:t>. When a sample's feature value is very close to a split threshold, tiny floating-point differences between R and Python can send it down a different branch. This cascades — one wrong turn early in a tree can lead to a dramatically different leaf value.</a:t>
            </a:r>
            <a:endParaRPr sz="18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52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44" y="2672425"/>
            <a:ext cx="8249918" cy="23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41575"/>
            <a:ext cx="8839200" cy="2521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000" y="2783322"/>
            <a:ext cx="7591982" cy="216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825" y="138070"/>
            <a:ext cx="8167825" cy="2330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775" y="2718222"/>
            <a:ext cx="7619491" cy="2175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python implementation on a larger dataset.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using python-exclusive RF model to allow for efficiency gains.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with “BroadHurst Method (hybrid approach)”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819</Words>
  <Application>Microsoft Office PowerPoint</Application>
  <PresentationFormat>On-screen Show (16:9)</PresentationFormat>
  <Paragraphs>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Roboto Mono</vt:lpstr>
      <vt:lpstr>Roboto</vt:lpstr>
      <vt:lpstr>Simple Light</vt:lpstr>
      <vt:lpstr>SERRF Validation (Draft)</vt:lpstr>
      <vt:lpstr>Changes Made</vt:lpstr>
      <vt:lpstr>SERRF Example Dataset Figures</vt:lpstr>
      <vt:lpstr>Cross-Validation Description</vt:lpstr>
      <vt:lpstr>New Figures</vt:lpstr>
      <vt:lpstr>PCA</vt:lpstr>
      <vt:lpstr>Correlation Analysis</vt:lpstr>
      <vt:lpstr>Concordance Correlation Coefficient</vt:lpstr>
      <vt:lpstr>Concordance Correlation Coefficient</vt:lpstr>
      <vt:lpstr>Percent Error</vt:lpstr>
      <vt:lpstr>Outlier Evaluation 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Aileru, Julian Garrett</dc:creator>
  <cp:lastModifiedBy>Aileru, Julian Garrett</cp:lastModifiedBy>
  <cp:revision>2</cp:revision>
  <dcterms:modified xsi:type="dcterms:W3CDTF">2026-02-10T16:45:29Z</dcterms:modified>
</cp:coreProperties>
</file>